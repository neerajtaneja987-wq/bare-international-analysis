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00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7365D"/>
                </a:solidFill>
                <a:latin typeface="Aptos"/>
              </a:defRPr>
            </a:pPr>
            <a:r>
              <a:t>EVALUATION OF STYLE ADVISOR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2F5597"/>
                </a:solidFill>
                <a:latin typeface="Aptos"/>
              </a:defRPr>
            </a:pPr>
            <a:r>
              <a:t>Comprehensive Analysis and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26579"/>
                </a:solidFill>
                <a:latin typeface="Aptos"/>
              </a:defRPr>
            </a:pPr>
            <a:r>
              <a:t>Bare International | CoachX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65D"/>
                </a:solidFill>
                <a:latin typeface="Aptos"/>
              </a:defRPr>
            </a:pPr>
            <a:r>
              <a:t>61 evaluation records • Overall average score: 71.8/100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Purpose of the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365D"/>
                </a:solidFill>
                <a:latin typeface="Aptos"/>
              </a:defRPr>
            </a:pPr>
            <a:r>
              <a:t>•  Overview: evaluate Style Advisor performance using recorded evaluation scores and service-criterion ratings.</a:t>
            </a:r>
          </a:p>
          <a:p>
            <a:pPr>
              <a:spcAft>
                <a:spcPts val="1000"/>
              </a:spcAft>
              <a:defRPr sz="1900">
                <a:solidFill>
                  <a:srgbClr val="17365D"/>
                </a:solidFill>
                <a:latin typeface="Aptos"/>
              </a:defRPr>
            </a:pPr>
            <a:r>
              <a:t>•  Objective 1: compare average Evaluation_Score across zones.</a:t>
            </a:r>
          </a:p>
          <a:p>
            <a:pPr>
              <a:spcAft>
                <a:spcPts val="1000"/>
              </a:spcAft>
              <a:defRPr sz="1900">
                <a:solidFill>
                  <a:srgbClr val="17365D"/>
                </a:solidFill>
                <a:latin typeface="Aptos"/>
              </a:defRPr>
            </a:pPr>
            <a:r>
              <a:t>•  Objective 2: identify the zone with the highest percentage of High Performers.</a:t>
            </a:r>
          </a:p>
          <a:p>
            <a:pPr>
              <a:spcAft>
                <a:spcPts val="1000"/>
              </a:spcAft>
              <a:defRPr sz="1900">
                <a:solidFill>
                  <a:srgbClr val="17365D"/>
                </a:solidFill>
                <a:latin typeface="Aptos"/>
              </a:defRPr>
            </a:pPr>
            <a:r>
              <a:t>•  Objective 3: examine performance patterns over time and across evaluation criteria.</a:t>
            </a:r>
          </a:p>
          <a:p>
            <a:pPr>
              <a:spcAft>
                <a:spcPts val="1000"/>
              </a:spcAft>
              <a:defRPr sz="1900">
                <a:solidFill>
                  <a:srgbClr val="17365D"/>
                </a:solidFill>
                <a:latin typeface="Aptos"/>
              </a:defRPr>
            </a:pPr>
            <a:r>
              <a:t>•  Objective 4: translate the findings into practical coaching and improvement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Structure of the source evaluation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Dataset size: 61 evaluation records.</a:t>
            </a:r>
          </a:p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Evaluation period in the workbook: 01 Oct 2022 to 30 Oct 2022.</a:t>
            </a:r>
          </a:p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Key dimensions: Zone, Evaluation_Date, Evaluation_Score, and Performance Grade.</a:t>
            </a:r>
          </a:p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Evaluation criteria: First Impressions, Discovery, Recommendations, Trial Experience &amp; Upsell, Objection Handling, Closure &amp; Care, Overall Experience, and Store Ambiance.</a:t>
            </a:r>
          </a:p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Analysis methods: PivotTable-style summaries, grade classification, charts, and conditional-formatting heatmap.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Performance Grading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Score bands used to classify each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987552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365D"/>
                </a:solidFill>
                <a:latin typeface="Aptos"/>
              </a:defRPr>
            </a:pPr>
            <a:r>
              <a:t>High Performer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F5597"/>
                </a:solidFill>
                <a:latin typeface="Aptos"/>
              </a:defRPr>
            </a:pPr>
            <a:r>
              <a:t>90–100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526579"/>
                </a:solidFill>
                <a:latin typeface="Aptos"/>
              </a:defRPr>
            </a:pPr>
            <a:r>
              <a:t>10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9875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365D"/>
                </a:solidFill>
                <a:latin typeface="Aptos"/>
              </a:defRPr>
            </a:pPr>
            <a:r>
              <a:t>Average Performer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F5597"/>
                </a:solidFill>
                <a:latin typeface="Aptos"/>
              </a:defRPr>
            </a:pPr>
            <a:r>
              <a:t>70–89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514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526579"/>
                </a:solidFill>
                <a:latin typeface="Aptos"/>
              </a:defRPr>
            </a:pPr>
            <a:r>
              <a:t>27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37560"/>
            <a:ext cx="987552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365D"/>
                </a:solidFill>
                <a:latin typeface="Aptos"/>
              </a:defRPr>
            </a:pPr>
            <a:r>
              <a:t>Low Performer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F5597"/>
                </a:solidFill>
                <a:latin typeface="Aptos"/>
              </a:defRPr>
            </a:pPr>
            <a:r>
              <a:t>50–69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526579"/>
                </a:solidFill>
                <a:latin typeface="Aptos"/>
              </a:defRPr>
            </a:pPr>
            <a:r>
              <a:t>16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80"/>
            <a:ext cx="9875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34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365D"/>
                </a:solidFill>
                <a:latin typeface="Aptos"/>
              </a:defRPr>
            </a:pPr>
            <a:r>
              <a:t>Bottom Performer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F5597"/>
                </a:solidFill>
                <a:latin typeface="Aptos"/>
              </a:defRPr>
            </a:pPr>
            <a:r>
              <a:t>Below 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526579"/>
                </a:solidFill>
                <a:latin typeface="Aptos"/>
              </a:defRPr>
            </a:pPr>
            <a:r>
              <a:t>8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6579"/>
                </a:solidFill>
                <a:latin typeface="Aptos"/>
              </a:defRPr>
            </a:pPr>
            <a:r>
              <a:t>Example: an Evaluation_Score of 92 is classified as High Performer.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Pivot Table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Average Evaluation_Score by Zone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0876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Zone</a:t>
                      </a:r>
                    </a:p>
                  </a:txBody>
                  <a:tcPr marL="73152" marR="7315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Evaluation Count</a:t>
                      </a:r>
                    </a:p>
                  </a:txBody>
                  <a:tcPr marL="73152" marR="7315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Score</a:t>
                      </a:r>
                    </a:p>
                  </a:txBody>
                  <a:tcPr marL="73152" marR="73152">
                    <a:solidFill>
                      <a:srgbClr val="17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East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71.6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North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76.7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South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66.6</a:t>
                      </a:r>
                    </a:p>
                  </a:txBody>
                  <a:tcPr marL="73152" marR="73152">
                    <a:solidFill>
                      <a:srgbClr val="F2F6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West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365D"/>
                          </a:solidFill>
                          <a:latin typeface="Aptos"/>
                        </a:defRPr>
                      </a:pPr>
                      <a:r>
                        <a:t>71.8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597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74519"/>
            <a:ext cx="37490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7365D"/>
                </a:solidFill>
                <a:latin typeface="Aptos"/>
              </a:defRPr>
            </a:pPr>
            <a:r>
              <a:t>•  Highest average: North (76.7).</a:t>
            </a:r>
          </a:p>
          <a:p>
            <a:pPr>
              <a:spcAft>
                <a:spcPts val="1000"/>
              </a:spcAft>
              <a:defRPr sz="1500">
                <a:solidFill>
                  <a:srgbClr val="17365D"/>
                </a:solidFill>
                <a:latin typeface="Aptos"/>
              </a:defRPr>
            </a:pPr>
            <a:r>
              <a:t>•  Lowest average: South (66.6).</a:t>
            </a:r>
          </a:p>
          <a:p>
            <a:pPr>
              <a:spcAft>
                <a:spcPts val="1000"/>
              </a:spcAft>
              <a:defRPr sz="1500">
                <a:solidFill>
                  <a:srgbClr val="17365D"/>
                </a:solidFill>
                <a:latin typeface="Aptos"/>
              </a:defRPr>
            </a:pPr>
            <a:r>
              <a:t>•  Overall average: 71.8/100.</a:t>
            </a:r>
          </a:p>
          <a:p>
            <a:pPr>
              <a:spcAft>
                <a:spcPts val="1000"/>
              </a:spcAft>
              <a:defRPr sz="1500">
                <a:solidFill>
                  <a:srgbClr val="17365D"/>
                </a:solidFill>
                <a:latin typeface="Aptos"/>
              </a:defRPr>
            </a:pPr>
            <a:r>
              <a:t>•  Review zone-level results alongside evaluation 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High Performer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Share of High Performers within each zone</a:t>
            </a:r>
          </a:p>
        </p:txBody>
      </p:sp>
      <p:pic>
        <p:nvPicPr>
          <p:cNvPr id="4" name="Picture 3" descr="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217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17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597"/>
                </a:solidFill>
                <a:latin typeface="Aptos"/>
              </a:defRPr>
            </a:pPr>
            <a:r>
              <a:t>HIGH PERFORMER SHARE BY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1874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365D"/>
                </a:solidFill>
                <a:latin typeface="Aptos"/>
              </a:defRPr>
            </a:pPr>
            <a:r>
              <a:t>East: 28.6% (2/7)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365D"/>
                </a:solidFill>
                <a:latin typeface="Aptos"/>
              </a:defRPr>
            </a:pPr>
            <a:r>
              <a:t>North: 21.1% (4/19)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365D"/>
                </a:solidFill>
                <a:latin typeface="Aptos"/>
              </a:defRPr>
            </a:pPr>
            <a:r>
              <a:t>West: 11.8% (2/17)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365D"/>
                </a:solidFill>
                <a:latin typeface="Aptos"/>
              </a:defRPr>
            </a:pPr>
            <a:r>
              <a:t>South: 11.1% (2/18)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50749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597"/>
                </a:solidFill>
                <a:latin typeface="Aptos"/>
              </a:defRPr>
            </a:pPr>
            <a:r>
              <a:t>Highest percentage: East (28.6%).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Visualization 1: Average Score by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Bar chart comparing average evaluation scores.</a:t>
            </a:r>
          </a:p>
        </p:txBody>
      </p:sp>
      <p:pic>
        <p:nvPicPr>
          <p:cNvPr id="4" name="Picture 3" descr="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040880" cy="3784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597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North leads with 76.7.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South has the lowest average at 66.6.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Use this comparison to prioritize deeper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Visualization 2: High Performers by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Pie chart shows the distribution of High Performer records across zones.</a:t>
            </a:r>
          </a:p>
        </p:txBody>
      </p:sp>
      <p:pic>
        <p:nvPicPr>
          <p:cNvPr id="4" name="Picture 3" descr="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040880" cy="4452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597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East has the highest within-zone High Performer percentage (28.6%).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The pie chart shows each zone's share of all High Performer records.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These are two different measures: share of high performers vs. percentage within a zone.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Visualization 3: Performance Trends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Line graph of average score by evaluation date.</a:t>
            </a:r>
          </a:p>
        </p:txBody>
      </p:sp>
      <p:pic>
        <p:nvPicPr>
          <p:cNvPr id="4" name="Picture 3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040880" cy="3784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597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Daily average range: 48.3–94.0.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Each point is the mean score for that date.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The observed window is limited; continue tracking for longer-term conclusions.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Visualization 4: Criteria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Average score for each evaluation criterion by zone.</a:t>
            </a:r>
          </a:p>
        </p:txBody>
      </p:sp>
      <p:pic>
        <p:nvPicPr>
          <p:cNvPr id="4" name="Picture 3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040880" cy="38724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597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Strongest criterion overall: Store Ambiance (88.8).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Weakest criterion overall: Closure &amp; Care (55.2).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Use the zone-by-criterion differences to tailor coaching.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Visualization 5: High vs. Low Performers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Stacked bar compares High Performer counts with Low/Bottom Performer counts by zone.</a:t>
            </a:r>
          </a:p>
        </p:txBody>
      </p:sp>
      <p:pic>
        <p:nvPicPr>
          <p:cNvPr id="4" name="Picture 3" descr="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040880" cy="3784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597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High performers are scores of 90–100.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Low group combines Low (50–69) and Bottom (below 50) bands for this comparison.</a:t>
            </a:r>
          </a:p>
          <a:p>
            <a:pPr>
              <a:spcAft>
                <a:spcPts val="1000"/>
              </a:spcAft>
              <a:defRPr sz="1400">
                <a:solidFill>
                  <a:srgbClr val="17365D"/>
                </a:solidFill>
                <a:latin typeface="Aptos"/>
              </a:defRPr>
            </a:pPr>
            <a:r>
              <a:t>•  Use counts with zone sample sizes when interpreting differences.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Summary of regional patterns, trends, and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Overall average score: 71.8/100 across 61 evaluations.</a:t>
            </a:r>
          </a:p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Zone with highest average: North (76.7); lowest: South (66.6).</a:t>
            </a:r>
          </a:p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Highest within-zone High Performer percentage: East (28.6%).</a:t>
            </a:r>
          </a:p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Strongest criterion: Store Ambiance (88.8); weakest: Closure &amp; Care (55.2).</a:t>
            </a:r>
          </a:p>
          <a:p>
            <a:pPr>
              <a:spcAft>
                <a:spcPts val="1000"/>
              </a:spcAft>
              <a:defRPr sz="1700">
                <a:solidFill>
                  <a:srgbClr val="17365D"/>
                </a:solidFill>
                <a:latin typeface="Aptos"/>
              </a:defRPr>
            </a:pPr>
            <a:r>
              <a:t>•  Performance distribution: High 10, Average 27, Low 16, Bottom 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365D"/>
                </a:solidFill>
                <a:latin typeface="Aptos"/>
              </a:defRPr>
            </a:pPr>
            <a:r>
              <a:t>Recommendations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6579"/>
                </a:solidFill>
                <a:latin typeface="Aptos"/>
              </a:defRPr>
            </a:pPr>
            <a:r>
              <a:t>Practical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365D"/>
                </a:solidFill>
                <a:latin typeface="Aptos"/>
              </a:defRPr>
            </a:pPr>
            <a:r>
              <a:t>•  Prioritize coaching on Closure &amp; Care and Recommendations, the two lowest-scoring criteria.</a:t>
            </a:r>
          </a:p>
          <a:p>
            <a:pPr>
              <a:spcAft>
                <a:spcPts val="1000"/>
              </a:spcAft>
              <a:defRPr sz="1600">
                <a:solidFill>
                  <a:srgbClr val="17365D"/>
                </a:solidFill>
                <a:latin typeface="Aptos"/>
              </a:defRPr>
            </a:pPr>
            <a:r>
              <a:t>•  Study practices in East and share repeatable service behaviours across zones.</a:t>
            </a:r>
          </a:p>
          <a:p>
            <a:pPr>
              <a:spcAft>
                <a:spcPts val="1000"/>
              </a:spcAft>
              <a:defRPr sz="1600">
                <a:solidFill>
                  <a:srgbClr val="17365D"/>
                </a:solidFill>
                <a:latin typeface="Aptos"/>
              </a:defRPr>
            </a:pPr>
            <a:r>
              <a:t>•  Review South evaluations at individual and criterion level before assigning support.</a:t>
            </a:r>
          </a:p>
          <a:p>
            <a:pPr>
              <a:spcAft>
                <a:spcPts val="1000"/>
              </a:spcAft>
              <a:defRPr sz="1600">
                <a:solidFill>
                  <a:srgbClr val="17365D"/>
                </a:solidFill>
                <a:latin typeface="Aptos"/>
              </a:defRPr>
            </a:pPr>
            <a:r>
              <a:t>•  Support Low and Bottom performers with role-play, observation checklists, specific goals, and follow-up evaluations.</a:t>
            </a:r>
          </a:p>
          <a:p>
            <a:pPr>
              <a:spcAft>
                <a:spcPts val="1000"/>
              </a:spcAft>
              <a:defRPr sz="1600">
                <a:solidFill>
                  <a:srgbClr val="17365D"/>
                </a:solidFill>
                <a:latin typeface="Aptos"/>
              </a:defRPr>
            </a:pPr>
            <a:r>
              <a:t>•  Track average scores, High Performer share, and criterion-level results monthly.</a:t>
            </a:r>
          </a:p>
          <a:p>
            <a:pPr>
              <a:spcAft>
                <a:spcPts val="1000"/>
              </a:spcAft>
              <a:defRPr sz="1600">
                <a:solidFill>
                  <a:srgbClr val="17365D"/>
                </a:solidFill>
                <a:latin typeface="Aptos"/>
              </a:defRPr>
            </a:pPr>
            <a:r>
              <a:t>•  Conclusion: combine zone-level comparisons with targeted coaching and consistent follow-up measurement.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579"/>
                </a:solidFill>
                <a:latin typeface="Aptos"/>
              </a:defRPr>
            </a:pPr>
            <a:r>
              <a:t>BARE INTERNATIONAL  |  STYLE ADVISOR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57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